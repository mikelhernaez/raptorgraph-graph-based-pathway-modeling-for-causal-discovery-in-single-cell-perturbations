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36"/>
    <p:restoredTop sz="94800"/>
  </p:normalViewPr>
  <p:slideViewPr>
    <p:cSldViewPr snapToGrid="0">
      <p:cViewPr varScale="1">
        <p:scale>
          <a:sx n="110" d="100"/>
          <a:sy n="110" d="100"/>
        </p:scale>
        <p:origin x="10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217-9E27-C44B-891B-B06A777F2A33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C56F-45B0-C94C-960B-FEE689B06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8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217-9E27-C44B-891B-B06A777F2A33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C56F-45B0-C94C-960B-FEE689B06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3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217-9E27-C44B-891B-B06A777F2A33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C56F-45B0-C94C-960B-FEE689B06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01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217-9E27-C44B-891B-B06A777F2A33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C56F-45B0-C94C-960B-FEE689B06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1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217-9E27-C44B-891B-B06A777F2A33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C56F-45B0-C94C-960B-FEE689B06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9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217-9E27-C44B-891B-B06A777F2A33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C56F-45B0-C94C-960B-FEE689B06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9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217-9E27-C44B-891B-B06A777F2A33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C56F-45B0-C94C-960B-FEE689B06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92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217-9E27-C44B-891B-B06A777F2A33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C56F-45B0-C94C-960B-FEE689B06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89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217-9E27-C44B-891B-B06A777F2A33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C56F-45B0-C94C-960B-FEE689B06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4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217-9E27-C44B-891B-B06A777F2A33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C56F-45B0-C94C-960B-FEE689B06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08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217-9E27-C44B-891B-B06A777F2A33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C56F-45B0-C94C-960B-FEE689B06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6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5C217-9E27-C44B-891B-B06A777F2A33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4C56F-45B0-C94C-960B-FEE689B06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2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23D63A3-AB63-975A-9577-3B9FA54EAD11}"/>
              </a:ext>
            </a:extLst>
          </p:cNvPr>
          <p:cNvSpPr/>
          <p:nvPr/>
        </p:nvSpPr>
        <p:spPr>
          <a:xfrm>
            <a:off x="455498" y="719146"/>
            <a:ext cx="1933893" cy="391212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8BFBBCD-DB8D-889C-F889-CB97F73E1F46}"/>
              </a:ext>
            </a:extLst>
          </p:cNvPr>
          <p:cNvSpPr/>
          <p:nvPr/>
        </p:nvSpPr>
        <p:spPr>
          <a:xfrm>
            <a:off x="2488842" y="719146"/>
            <a:ext cx="6104824" cy="39121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986350C-EDDC-2D15-3EB8-31A31058AC6E}"/>
                  </a:ext>
                </a:extLst>
              </p:cNvPr>
              <p:cNvSpPr/>
              <p:nvPr/>
            </p:nvSpPr>
            <p:spPr>
              <a:xfrm>
                <a:off x="727490" y="1265064"/>
                <a:ext cx="407660" cy="40867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986350C-EDDC-2D15-3EB8-31A31058AC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90" y="1265064"/>
                <a:ext cx="407660" cy="40867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54DB8226-74B9-77DA-F393-38F0BC669AD3}"/>
                  </a:ext>
                </a:extLst>
              </p:cNvPr>
              <p:cNvSpPr/>
              <p:nvPr/>
            </p:nvSpPr>
            <p:spPr>
              <a:xfrm>
                <a:off x="714604" y="3032861"/>
                <a:ext cx="407660" cy="40867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54DB8226-74B9-77DA-F393-38F0BC669A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04" y="3032861"/>
                <a:ext cx="407660" cy="408677"/>
              </a:xfrm>
              <a:prstGeom prst="roundRect">
                <a:avLst/>
              </a:prstGeom>
              <a:blipFill>
                <a:blip r:embed="rId3"/>
                <a:stretch>
                  <a:fillRect r="-5714"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rapezoid 7">
            <a:extLst>
              <a:ext uri="{FF2B5EF4-FFF2-40B4-BE49-F238E27FC236}">
                <a16:creationId xmlns:a16="http://schemas.microsoft.com/office/drawing/2014/main" id="{C15C227E-A9E7-3B21-2968-19387FF59ACE}"/>
              </a:ext>
            </a:extLst>
          </p:cNvPr>
          <p:cNvSpPr/>
          <p:nvPr/>
        </p:nvSpPr>
        <p:spPr>
          <a:xfrm rot="5400000">
            <a:off x="1205474" y="1122272"/>
            <a:ext cx="1187610" cy="639838"/>
          </a:xfrm>
          <a:prstGeom prst="trapezoid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C8150161-1E9C-BD5F-94F4-4CD82419E9E8}"/>
              </a:ext>
            </a:extLst>
          </p:cNvPr>
          <p:cNvSpPr/>
          <p:nvPr/>
        </p:nvSpPr>
        <p:spPr>
          <a:xfrm rot="5400000">
            <a:off x="1192588" y="2917278"/>
            <a:ext cx="1187610" cy="639838"/>
          </a:xfrm>
          <a:prstGeom prst="trapezoid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EBB32-F31F-0AF4-3C2D-7B0E12AD99C7}"/>
              </a:ext>
            </a:extLst>
          </p:cNvPr>
          <p:cNvSpPr txBox="1"/>
          <p:nvPr/>
        </p:nvSpPr>
        <p:spPr>
          <a:xfrm>
            <a:off x="425243" y="452275"/>
            <a:ext cx="1994403" cy="265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Gene Expression Space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ADCA3B-FD5F-1D5A-5766-5E9FA6879209}"/>
              </a:ext>
            </a:extLst>
          </p:cNvPr>
          <p:cNvSpPr txBox="1"/>
          <p:nvPr/>
        </p:nvSpPr>
        <p:spPr>
          <a:xfrm>
            <a:off x="4107063" y="452275"/>
            <a:ext cx="3129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Biological Pathway Space (Semantic)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1DC0CE-AAF7-02BE-7549-C3A2B7CE4C26}"/>
              </a:ext>
            </a:extLst>
          </p:cNvPr>
          <p:cNvSpPr/>
          <p:nvPr/>
        </p:nvSpPr>
        <p:spPr>
          <a:xfrm>
            <a:off x="4465271" y="1313966"/>
            <a:ext cx="2151965" cy="31087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Forward Diffusion Process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30CA054-5F23-6BE6-BA22-374939388FC7}"/>
              </a:ext>
            </a:extLst>
          </p:cNvPr>
          <p:cNvSpPr/>
          <p:nvPr/>
        </p:nvSpPr>
        <p:spPr>
          <a:xfrm>
            <a:off x="2838225" y="1068440"/>
            <a:ext cx="179458" cy="80192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A1777F1-96B0-BA1A-19D0-D5F45903A227}"/>
              </a:ext>
            </a:extLst>
          </p:cNvPr>
          <p:cNvSpPr/>
          <p:nvPr/>
        </p:nvSpPr>
        <p:spPr>
          <a:xfrm>
            <a:off x="8064824" y="1068440"/>
            <a:ext cx="179458" cy="80192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AD11E00-D0D1-DD6F-061C-8B86B74E661F}"/>
              </a:ext>
            </a:extLst>
          </p:cNvPr>
          <p:cNvSpPr/>
          <p:nvPr/>
        </p:nvSpPr>
        <p:spPr>
          <a:xfrm>
            <a:off x="2825340" y="2836235"/>
            <a:ext cx="179458" cy="80192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A617DC7-DF28-9836-6391-A89FC689AD6E}"/>
              </a:ext>
            </a:extLst>
          </p:cNvPr>
          <p:cNvSpPr/>
          <p:nvPr/>
        </p:nvSpPr>
        <p:spPr>
          <a:xfrm>
            <a:off x="4104962" y="2836235"/>
            <a:ext cx="179458" cy="80192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B7053EE-D029-C882-AD54-9387A0030D4F}"/>
              </a:ext>
            </a:extLst>
          </p:cNvPr>
          <p:cNvSpPr/>
          <p:nvPr/>
        </p:nvSpPr>
        <p:spPr>
          <a:xfrm>
            <a:off x="8080291" y="2829907"/>
            <a:ext cx="179458" cy="80192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733EFB2-838D-1300-F2F2-A26B4C0260EB}"/>
                  </a:ext>
                </a:extLst>
              </p:cNvPr>
              <p:cNvSpPr txBox="1"/>
              <p:nvPr/>
            </p:nvSpPr>
            <p:spPr>
              <a:xfrm>
                <a:off x="1468575" y="1309979"/>
                <a:ext cx="661406" cy="318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ℰ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733EFB2-838D-1300-F2F2-A26B4C026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575" y="1309979"/>
                <a:ext cx="661406" cy="318848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4A201C-BD1F-DC19-443C-0CD2DA6E6F99}"/>
                  </a:ext>
                </a:extLst>
              </p:cNvPr>
              <p:cNvSpPr txBox="1"/>
              <p:nvPr/>
            </p:nvSpPr>
            <p:spPr>
              <a:xfrm>
                <a:off x="1455689" y="3077773"/>
                <a:ext cx="66140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𝒟</m:t>
                      </m:r>
                    </m:oMath>
                  </m:oMathPara>
                </a14:m>
                <a:endParaRPr lang="en-US" sz="1400" dirty="0"/>
              </a:p>
              <a:p>
                <a:pPr algn="ctr"/>
                <a:r>
                  <a:rPr lang="en-US" sz="1400" dirty="0"/>
                  <a:t>(DAG)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4A201C-BD1F-DC19-443C-0CD2DA6E6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689" y="3077773"/>
                <a:ext cx="661406" cy="523220"/>
              </a:xfrm>
              <a:prstGeom prst="rect">
                <a:avLst/>
              </a:prstGeom>
              <a:blipFill>
                <a:blip r:embed="rId5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44BD528-651E-2885-5082-67BBA9442829}"/>
              </a:ext>
            </a:extLst>
          </p:cNvPr>
          <p:cNvCxnSpPr>
            <a:stCxn id="6" idx="3"/>
            <a:endCxn id="19" idx="1"/>
          </p:cNvCxnSpPr>
          <p:nvPr/>
        </p:nvCxnSpPr>
        <p:spPr>
          <a:xfrm>
            <a:off x="1135150" y="1469403"/>
            <a:ext cx="3334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2552984-90A8-9B4F-D3CF-4FEDE706145F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2129981" y="1469403"/>
            <a:ext cx="708244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123560-E408-E0E6-D6CB-833E17093609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V="1">
            <a:off x="3017683" y="1469403"/>
            <a:ext cx="1447587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D362EAE-54B4-9C7A-4152-0A7C2B8C71E0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6617236" y="1469403"/>
            <a:ext cx="1447587" cy="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E77DB6-6D56-4B61-A630-E9E175DE448B}"/>
                  </a:ext>
                </a:extLst>
              </p:cNvPr>
              <p:cNvSpPr txBox="1"/>
              <p:nvPr/>
            </p:nvSpPr>
            <p:spPr>
              <a:xfrm>
                <a:off x="2680798" y="1821111"/>
                <a:ext cx="494311" cy="318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E77DB6-6D56-4B61-A630-E9E175DE4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798" y="1821111"/>
                <a:ext cx="494311" cy="3188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DA8D853-5C9B-C437-DAB2-F530B7B22285}"/>
                  </a:ext>
                </a:extLst>
              </p:cNvPr>
              <p:cNvSpPr txBox="1"/>
              <p:nvPr/>
            </p:nvSpPr>
            <p:spPr>
              <a:xfrm>
                <a:off x="7930913" y="1821111"/>
                <a:ext cx="494311" cy="318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DA8D853-5C9B-C437-DAB2-F530B7B22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913" y="1821111"/>
                <a:ext cx="494311" cy="318848"/>
              </a:xfrm>
              <a:prstGeom prst="rect">
                <a:avLst/>
              </a:prstGeom>
              <a:blipFill>
                <a:blip r:embed="rId7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D6C34B7-AA0E-47F0-99C7-5D8378B89A01}"/>
              </a:ext>
            </a:extLst>
          </p:cNvPr>
          <p:cNvCxnSpPr>
            <a:cxnSpLocks/>
          </p:cNvCxnSpPr>
          <p:nvPr/>
        </p:nvCxnSpPr>
        <p:spPr>
          <a:xfrm>
            <a:off x="2124555" y="3255345"/>
            <a:ext cx="6948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90B44AB-29CC-4C19-863E-925F97360635}"/>
                  </a:ext>
                </a:extLst>
              </p:cNvPr>
              <p:cNvSpPr txBox="1"/>
              <p:nvPr/>
            </p:nvSpPr>
            <p:spPr>
              <a:xfrm>
                <a:off x="2669948" y="3631061"/>
                <a:ext cx="494311" cy="318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90B44AB-29CC-4C19-863E-925F97360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48" y="3631061"/>
                <a:ext cx="494311" cy="3188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199A213-FFF3-4632-A7E2-28B419FCF72E}"/>
                  </a:ext>
                </a:extLst>
              </p:cNvPr>
              <p:cNvSpPr txBox="1"/>
              <p:nvPr/>
            </p:nvSpPr>
            <p:spPr>
              <a:xfrm>
                <a:off x="3932502" y="3638160"/>
                <a:ext cx="494311" cy="318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199A213-FFF3-4632-A7E2-28B419FCF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502" y="3638160"/>
                <a:ext cx="494311" cy="318848"/>
              </a:xfrm>
              <a:prstGeom prst="rect">
                <a:avLst/>
              </a:prstGeom>
              <a:blipFill>
                <a:blip r:embed="rId9"/>
                <a:stretch>
                  <a:fillRect r="-1975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ounded Rectangle 4">
            <a:extLst>
              <a:ext uri="{FF2B5EF4-FFF2-40B4-BE49-F238E27FC236}">
                <a16:creationId xmlns:a16="http://schemas.microsoft.com/office/drawing/2014/main" id="{66D5F4F3-81CB-4FF7-8A4D-3BEE1BFF8FBD}"/>
              </a:ext>
            </a:extLst>
          </p:cNvPr>
          <p:cNvSpPr/>
          <p:nvPr/>
        </p:nvSpPr>
        <p:spPr>
          <a:xfrm>
            <a:off x="8785622" y="719146"/>
            <a:ext cx="2083519" cy="4693797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B11DDF-00C5-41CC-B2AB-B6F8DA9B0202}"/>
              </a:ext>
            </a:extLst>
          </p:cNvPr>
          <p:cNvSpPr txBox="1"/>
          <p:nvPr/>
        </p:nvSpPr>
        <p:spPr>
          <a:xfrm>
            <a:off x="8693116" y="410205"/>
            <a:ext cx="2280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Conditioning (Perturbation)</a:t>
            </a:r>
          </a:p>
        </p:txBody>
      </p:sp>
      <p:sp>
        <p:nvSpPr>
          <p:cNvPr id="38" name="Trapezoid 37">
            <a:extLst>
              <a:ext uri="{FF2B5EF4-FFF2-40B4-BE49-F238E27FC236}">
                <a16:creationId xmlns:a16="http://schemas.microsoft.com/office/drawing/2014/main" id="{73D832D6-20A7-4021-A35F-D961EE85FA7F}"/>
              </a:ext>
            </a:extLst>
          </p:cNvPr>
          <p:cNvSpPr/>
          <p:nvPr/>
        </p:nvSpPr>
        <p:spPr>
          <a:xfrm rot="16200000">
            <a:off x="8946596" y="4354616"/>
            <a:ext cx="950216" cy="798975"/>
          </a:xfrm>
          <a:prstGeom prst="trapezoi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6A7FFF-DE03-4296-ABF0-4778EF5478CC}"/>
              </a:ext>
            </a:extLst>
          </p:cNvPr>
          <p:cNvSpPr txBox="1"/>
          <p:nvPr/>
        </p:nvSpPr>
        <p:spPr>
          <a:xfrm>
            <a:off x="8693824" y="854945"/>
            <a:ext cx="2280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Perturbation Embeddings</a:t>
            </a:r>
          </a:p>
        </p:txBody>
      </p:sp>
      <p:sp>
        <p:nvSpPr>
          <p:cNvPr id="47" name="Rounded Rectangle 4">
            <a:extLst>
              <a:ext uri="{FF2B5EF4-FFF2-40B4-BE49-F238E27FC236}">
                <a16:creationId xmlns:a16="http://schemas.microsoft.com/office/drawing/2014/main" id="{3C21A984-0B53-40A4-8330-176C06825D46}"/>
              </a:ext>
            </a:extLst>
          </p:cNvPr>
          <p:cNvSpPr/>
          <p:nvPr/>
        </p:nvSpPr>
        <p:spPr>
          <a:xfrm>
            <a:off x="8908172" y="1142974"/>
            <a:ext cx="1826038" cy="161545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378EBB2-C35F-4ED7-94C2-E28E781E5252}"/>
              </a:ext>
            </a:extLst>
          </p:cNvPr>
          <p:cNvGrpSpPr/>
          <p:nvPr/>
        </p:nvGrpSpPr>
        <p:grpSpPr>
          <a:xfrm>
            <a:off x="8979409" y="1334369"/>
            <a:ext cx="554960" cy="1139150"/>
            <a:chOff x="8988542" y="1445057"/>
            <a:chExt cx="554960" cy="113915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733E486-8121-4284-A922-6B2BD6A1B634}"/>
                </a:ext>
              </a:extLst>
            </p:cNvPr>
            <p:cNvGrpSpPr/>
            <p:nvPr/>
          </p:nvGrpSpPr>
          <p:grpSpPr>
            <a:xfrm>
              <a:off x="9140189" y="1720730"/>
              <a:ext cx="180000" cy="863477"/>
              <a:chOff x="11133667" y="3078822"/>
              <a:chExt cx="180000" cy="863477"/>
            </a:xfrm>
            <a:solidFill>
              <a:schemeClr val="tx2">
                <a:lumMod val="50000"/>
                <a:lumOff val="50000"/>
              </a:schemeClr>
            </a:solidFill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B8DF76B-AC34-4304-B3B0-19DCF44F4A1F}"/>
                  </a:ext>
                </a:extLst>
              </p:cNvPr>
              <p:cNvSpPr/>
              <p:nvPr/>
            </p:nvSpPr>
            <p:spPr>
              <a:xfrm>
                <a:off x="11133667" y="3078822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8D25A17-18AA-47A2-827D-57D5FAF43DB9}"/>
                  </a:ext>
                </a:extLst>
              </p:cNvPr>
              <p:cNvSpPr/>
              <p:nvPr/>
            </p:nvSpPr>
            <p:spPr>
              <a:xfrm>
                <a:off x="11133667" y="3302663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385A4AF-E0EF-4F89-A826-929197345F73}"/>
                  </a:ext>
                </a:extLst>
              </p:cNvPr>
              <p:cNvSpPr/>
              <p:nvPr/>
            </p:nvSpPr>
            <p:spPr>
              <a:xfrm>
                <a:off x="11133667" y="3538458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4669C41-CAC8-4535-8BFA-6B10B2B4B915}"/>
                  </a:ext>
                </a:extLst>
              </p:cNvPr>
              <p:cNvSpPr/>
              <p:nvPr/>
            </p:nvSpPr>
            <p:spPr>
              <a:xfrm>
                <a:off x="11133667" y="3762299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5499B02-9599-46D1-8B76-D4771B9D2987}"/>
                </a:ext>
              </a:extLst>
            </p:cNvPr>
            <p:cNvSpPr txBox="1"/>
            <p:nvPr/>
          </p:nvSpPr>
          <p:spPr>
            <a:xfrm>
              <a:off x="8988542" y="1445057"/>
              <a:ext cx="55496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Gene 1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6DDF78A-C412-42B2-A197-44BCE780F8D9}"/>
              </a:ext>
            </a:extLst>
          </p:cNvPr>
          <p:cNvGrpSpPr/>
          <p:nvPr/>
        </p:nvGrpSpPr>
        <p:grpSpPr>
          <a:xfrm>
            <a:off x="9542378" y="1334369"/>
            <a:ext cx="533351" cy="1139150"/>
            <a:chOff x="9551511" y="1445057"/>
            <a:chExt cx="533351" cy="113915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73923EE-23CC-4540-96F7-F1C9859BAFCC}"/>
                </a:ext>
              </a:extLst>
            </p:cNvPr>
            <p:cNvGrpSpPr/>
            <p:nvPr/>
          </p:nvGrpSpPr>
          <p:grpSpPr>
            <a:xfrm>
              <a:off x="9703158" y="1720730"/>
              <a:ext cx="180000" cy="863477"/>
              <a:chOff x="11133667" y="3078822"/>
              <a:chExt cx="180000" cy="863477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06D8433-EDF2-4702-ADBA-2A6ABE1D08EB}"/>
                  </a:ext>
                </a:extLst>
              </p:cNvPr>
              <p:cNvSpPr/>
              <p:nvPr/>
            </p:nvSpPr>
            <p:spPr>
              <a:xfrm>
                <a:off x="11133667" y="3078822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CEE1DFB-25A3-45DF-A24C-4797AB08FD23}"/>
                  </a:ext>
                </a:extLst>
              </p:cNvPr>
              <p:cNvSpPr/>
              <p:nvPr/>
            </p:nvSpPr>
            <p:spPr>
              <a:xfrm>
                <a:off x="11133667" y="3302663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25571FF2-3A92-4495-8EDE-1CC33D7DE6A6}"/>
                  </a:ext>
                </a:extLst>
              </p:cNvPr>
              <p:cNvSpPr/>
              <p:nvPr/>
            </p:nvSpPr>
            <p:spPr>
              <a:xfrm>
                <a:off x="11133667" y="3538458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947F8EBE-5F69-4EA8-8902-A1A5C9AD6E3D}"/>
                  </a:ext>
                </a:extLst>
              </p:cNvPr>
              <p:cNvSpPr/>
              <p:nvPr/>
            </p:nvSpPr>
            <p:spPr>
              <a:xfrm>
                <a:off x="11133667" y="3762299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1CECB83-5091-4948-8AC8-BC35C8C46652}"/>
                    </a:ext>
                  </a:extLst>
                </p:cNvPr>
                <p:cNvSpPr txBox="1"/>
                <p:nvPr/>
              </p:nvSpPr>
              <p:spPr>
                <a:xfrm>
                  <a:off x="9551511" y="1445057"/>
                  <a:ext cx="53335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Gene </a:t>
                  </a:r>
                  <a14:m>
                    <m:oMath xmlns:m="http://schemas.openxmlformats.org/officeDocument/2006/math"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sz="100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1CECB83-5091-4948-8AC8-BC35C8C466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511" y="1445057"/>
                  <a:ext cx="533351" cy="246221"/>
                </a:xfrm>
                <a:prstGeom prst="rect">
                  <a:avLst/>
                </a:prstGeom>
                <a:blipFill>
                  <a:blip r:embed="rId10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6CC92A5-0AB2-49F4-ACE1-C79D6E54C937}"/>
              </a:ext>
            </a:extLst>
          </p:cNvPr>
          <p:cNvGrpSpPr/>
          <p:nvPr/>
        </p:nvGrpSpPr>
        <p:grpSpPr>
          <a:xfrm>
            <a:off x="10105347" y="1334369"/>
            <a:ext cx="556563" cy="1139150"/>
            <a:chOff x="10114480" y="1445057"/>
            <a:chExt cx="556563" cy="1139150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D266908-4F85-4749-8FE5-BD0A863AC1C2}"/>
                </a:ext>
              </a:extLst>
            </p:cNvPr>
            <p:cNvGrpSpPr/>
            <p:nvPr/>
          </p:nvGrpSpPr>
          <p:grpSpPr>
            <a:xfrm>
              <a:off x="10266127" y="1720730"/>
              <a:ext cx="180000" cy="863477"/>
              <a:chOff x="11133667" y="3078822"/>
              <a:chExt cx="180000" cy="863477"/>
            </a:xfrm>
            <a:solidFill>
              <a:srgbClr val="FFFF00"/>
            </a:solidFill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30131E0-D34D-4080-A282-4AEB04082242}"/>
                  </a:ext>
                </a:extLst>
              </p:cNvPr>
              <p:cNvSpPr/>
              <p:nvPr/>
            </p:nvSpPr>
            <p:spPr>
              <a:xfrm>
                <a:off x="11133667" y="3078822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24B5C67-115D-4D7F-8BCF-40FCCD8CA928}"/>
                  </a:ext>
                </a:extLst>
              </p:cNvPr>
              <p:cNvSpPr/>
              <p:nvPr/>
            </p:nvSpPr>
            <p:spPr>
              <a:xfrm>
                <a:off x="11133667" y="3302663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0CD5382-F786-4AF8-85F6-D4AFFA73CAEA}"/>
                  </a:ext>
                </a:extLst>
              </p:cNvPr>
              <p:cNvSpPr/>
              <p:nvPr/>
            </p:nvSpPr>
            <p:spPr>
              <a:xfrm>
                <a:off x="11133667" y="3538458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92D711EA-A781-4547-B4EE-76E8504EDEAA}"/>
                  </a:ext>
                </a:extLst>
              </p:cNvPr>
              <p:cNvSpPr/>
              <p:nvPr/>
            </p:nvSpPr>
            <p:spPr>
              <a:xfrm>
                <a:off x="11133667" y="3762299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6A6280E-B6B2-42ED-913E-FE8BC8C5341E}"/>
                </a:ext>
              </a:extLst>
            </p:cNvPr>
            <p:cNvSpPr txBox="1"/>
            <p:nvPr/>
          </p:nvSpPr>
          <p:spPr>
            <a:xfrm>
              <a:off x="10114480" y="1445057"/>
              <a:ext cx="5565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Gene n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5E11CB4-9BB2-4B43-95DB-92918EBF933A}"/>
              </a:ext>
            </a:extLst>
          </p:cNvPr>
          <p:cNvGrpSpPr/>
          <p:nvPr/>
        </p:nvGrpSpPr>
        <p:grpSpPr>
          <a:xfrm>
            <a:off x="10108292" y="4278995"/>
            <a:ext cx="180000" cy="863477"/>
            <a:chOff x="11133667" y="3078822"/>
            <a:chExt cx="180000" cy="863477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2BE888A-9368-4BB2-8E9A-421B0930EF86}"/>
                </a:ext>
              </a:extLst>
            </p:cNvPr>
            <p:cNvSpPr/>
            <p:nvPr/>
          </p:nvSpPr>
          <p:spPr>
            <a:xfrm>
              <a:off x="11133667" y="3078822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25B33CF-BFA2-42E0-8827-9AB95A117339}"/>
                </a:ext>
              </a:extLst>
            </p:cNvPr>
            <p:cNvSpPr/>
            <p:nvPr/>
          </p:nvSpPr>
          <p:spPr>
            <a:xfrm>
              <a:off x="11133667" y="3302663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010E993-25CE-4127-B497-8ADD5144CE4C}"/>
                </a:ext>
              </a:extLst>
            </p:cNvPr>
            <p:cNvSpPr/>
            <p:nvPr/>
          </p:nvSpPr>
          <p:spPr>
            <a:xfrm>
              <a:off x="11133667" y="3538458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0151DF6-2092-4519-AC73-2C08AE2255CC}"/>
                </a:ext>
              </a:extLst>
            </p:cNvPr>
            <p:cNvSpPr/>
            <p:nvPr/>
          </p:nvSpPr>
          <p:spPr>
            <a:xfrm>
              <a:off x="11133667" y="3762299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3C5269E-02FB-4541-9C51-E5A80086B09E}"/>
              </a:ext>
            </a:extLst>
          </p:cNvPr>
          <p:cNvGrpSpPr/>
          <p:nvPr/>
        </p:nvGrpSpPr>
        <p:grpSpPr>
          <a:xfrm>
            <a:off x="10349939" y="4270927"/>
            <a:ext cx="180000" cy="863477"/>
            <a:chOff x="11133667" y="3078822"/>
            <a:chExt cx="180000" cy="863477"/>
          </a:xfrm>
          <a:solidFill>
            <a:srgbClr val="FFFF00"/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3173E51-F0D6-4857-8A2B-70A3538BE8C2}"/>
                </a:ext>
              </a:extLst>
            </p:cNvPr>
            <p:cNvSpPr/>
            <p:nvPr/>
          </p:nvSpPr>
          <p:spPr>
            <a:xfrm>
              <a:off x="11133667" y="3078822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8BFBD4E-0A67-48F6-96E3-E45A7EE7AF63}"/>
                </a:ext>
              </a:extLst>
            </p:cNvPr>
            <p:cNvSpPr/>
            <p:nvPr/>
          </p:nvSpPr>
          <p:spPr>
            <a:xfrm>
              <a:off x="11133667" y="3302663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42661FB-DB4C-4C65-B828-2670D32BA36F}"/>
                </a:ext>
              </a:extLst>
            </p:cNvPr>
            <p:cNvSpPr/>
            <p:nvPr/>
          </p:nvSpPr>
          <p:spPr>
            <a:xfrm>
              <a:off x="11133667" y="3538458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1AF4EB-9F07-44B3-AFF6-79D5B5D1D92B}"/>
                </a:ext>
              </a:extLst>
            </p:cNvPr>
            <p:cNvSpPr/>
            <p:nvPr/>
          </p:nvSpPr>
          <p:spPr>
            <a:xfrm>
              <a:off x="11133667" y="3762299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69457292-7BD4-4230-B311-B292FC999AED}"/>
              </a:ext>
            </a:extLst>
          </p:cNvPr>
          <p:cNvCxnSpPr>
            <a:cxnSpLocks/>
            <a:stCxn id="47" idx="2"/>
          </p:cNvCxnSpPr>
          <p:nvPr/>
        </p:nvCxnSpPr>
        <p:spPr>
          <a:xfrm rot="16200000" flipH="1">
            <a:off x="9375637" y="3203986"/>
            <a:ext cx="1419859" cy="528750"/>
          </a:xfrm>
          <a:prstGeom prst="curved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24BAB18-7EA9-4A28-88C4-4C2175A3A4E7}"/>
              </a:ext>
            </a:extLst>
          </p:cNvPr>
          <p:cNvSpPr txBox="1"/>
          <p:nvPr/>
        </p:nvSpPr>
        <p:spPr>
          <a:xfrm>
            <a:off x="9120161" y="3224261"/>
            <a:ext cx="1532336" cy="5232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/>
              <a:t>Select Perturbation(s)</a:t>
            </a:r>
            <a:endParaRPr lang="en-US" sz="1400" b="1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44BF0A1-2B85-4556-9928-62AB0197B794}"/>
              </a:ext>
            </a:extLst>
          </p:cNvPr>
          <p:cNvGrpSpPr/>
          <p:nvPr/>
        </p:nvGrpSpPr>
        <p:grpSpPr>
          <a:xfrm>
            <a:off x="4762613" y="2226622"/>
            <a:ext cx="2754260" cy="1981933"/>
            <a:chOff x="4779778" y="1870366"/>
            <a:chExt cx="2754260" cy="1981933"/>
          </a:xfrm>
        </p:grpSpPr>
        <p:sp>
          <p:nvSpPr>
            <p:cNvPr id="25" name="Rounded Rectangle 4">
              <a:extLst>
                <a:ext uri="{FF2B5EF4-FFF2-40B4-BE49-F238E27FC236}">
                  <a16:creationId xmlns:a16="http://schemas.microsoft.com/office/drawing/2014/main" id="{B4821544-A1C1-4C17-AA0F-3174BFC1A0AB}"/>
                </a:ext>
              </a:extLst>
            </p:cNvPr>
            <p:cNvSpPr/>
            <p:nvPr/>
          </p:nvSpPr>
          <p:spPr>
            <a:xfrm>
              <a:off x="4779778" y="1870366"/>
              <a:ext cx="2754260" cy="198193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rapezoid 1">
              <a:extLst>
                <a:ext uri="{FF2B5EF4-FFF2-40B4-BE49-F238E27FC236}">
                  <a16:creationId xmlns:a16="http://schemas.microsoft.com/office/drawing/2014/main" id="{2F2D9E92-F74A-49FB-B36B-C61AD52B9968}"/>
                </a:ext>
              </a:extLst>
            </p:cNvPr>
            <p:cNvSpPr/>
            <p:nvPr/>
          </p:nvSpPr>
          <p:spPr>
            <a:xfrm rot="5400000">
              <a:off x="5001049" y="2372371"/>
              <a:ext cx="950216" cy="977922"/>
            </a:xfrm>
            <a:prstGeom prst="trapezoid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rapezoid 25">
              <a:extLst>
                <a:ext uri="{FF2B5EF4-FFF2-40B4-BE49-F238E27FC236}">
                  <a16:creationId xmlns:a16="http://schemas.microsoft.com/office/drawing/2014/main" id="{4C98F5AD-5D39-4863-B236-C1EF1D1406D6}"/>
                </a:ext>
              </a:extLst>
            </p:cNvPr>
            <p:cNvSpPr/>
            <p:nvPr/>
          </p:nvSpPr>
          <p:spPr>
            <a:xfrm rot="16200000">
              <a:off x="6334125" y="2372372"/>
              <a:ext cx="950216" cy="977920"/>
            </a:xfrm>
            <a:prstGeom prst="trapezoid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Rounded Rectangle 4">
                  <a:extLst>
                    <a:ext uri="{FF2B5EF4-FFF2-40B4-BE49-F238E27FC236}">
                      <a16:creationId xmlns:a16="http://schemas.microsoft.com/office/drawing/2014/main" id="{B39829FD-2C50-47F5-8757-7C2A51F6B7D7}"/>
                    </a:ext>
                  </a:extLst>
                </p:cNvPr>
                <p:cNvSpPr/>
                <p:nvPr/>
              </p:nvSpPr>
              <p:spPr>
                <a:xfrm>
                  <a:off x="5199354" y="2638818"/>
                  <a:ext cx="487444" cy="471590"/>
                </a:xfrm>
                <a:prstGeom prst="roundRect">
                  <a:avLst/>
                </a:prstGeom>
                <a:solidFill>
                  <a:srgbClr val="FFD347"/>
                </a:solidFill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5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a14:m>
                  <a:br>
                    <a:rPr lang="en-US" sz="1500" b="0" i="1" dirty="0">
                      <a:latin typeface="Cambria Math" panose="02040503050406030204" pitchFamily="18" charset="0"/>
                    </a:rPr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1500" dirty="0"/>
                </a:p>
              </p:txBody>
            </p:sp>
          </mc:Choice>
          <mc:Fallback>
            <p:sp>
              <p:nvSpPr>
                <p:cNvPr id="86" name="Rounded Rectangle 4">
                  <a:extLst>
                    <a:ext uri="{FF2B5EF4-FFF2-40B4-BE49-F238E27FC236}">
                      <a16:creationId xmlns:a16="http://schemas.microsoft.com/office/drawing/2014/main" id="{B39829FD-2C50-47F5-8757-7C2A51F6B7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9354" y="2638818"/>
                  <a:ext cx="487444" cy="471590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Rounded Rectangle 4">
                  <a:extLst>
                    <a:ext uri="{FF2B5EF4-FFF2-40B4-BE49-F238E27FC236}">
                      <a16:creationId xmlns:a16="http://schemas.microsoft.com/office/drawing/2014/main" id="{C9C1B3C1-89D4-435A-BECD-CD6C68DF0733}"/>
                    </a:ext>
                  </a:extLst>
                </p:cNvPr>
                <p:cNvSpPr/>
                <p:nvPr/>
              </p:nvSpPr>
              <p:spPr>
                <a:xfrm>
                  <a:off x="6599113" y="2615368"/>
                  <a:ext cx="487444" cy="471590"/>
                </a:xfrm>
                <a:prstGeom prst="roundRect">
                  <a:avLst/>
                </a:prstGeom>
                <a:solidFill>
                  <a:srgbClr val="FFD347"/>
                </a:solidFill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5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a14:m>
                  <a:br>
                    <a:rPr lang="en-US" sz="1500" b="0" i="1" dirty="0">
                      <a:latin typeface="Cambria Math" panose="02040503050406030204" pitchFamily="18" charset="0"/>
                    </a:rPr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1500" dirty="0"/>
                </a:p>
              </p:txBody>
            </p:sp>
          </mc:Choice>
          <mc:Fallback>
            <p:sp>
              <p:nvSpPr>
                <p:cNvPr id="87" name="Rounded Rectangle 4">
                  <a:extLst>
                    <a:ext uri="{FF2B5EF4-FFF2-40B4-BE49-F238E27FC236}">
                      <a16:creationId xmlns:a16="http://schemas.microsoft.com/office/drawing/2014/main" id="{C9C1B3C1-89D4-435A-BECD-CD6C68DF07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9113" y="2615368"/>
                  <a:ext cx="487444" cy="471590"/>
                </a:xfrm>
                <a:prstGeom prst="roundRect">
                  <a:avLst/>
                </a:prstGeom>
                <a:blipFill>
                  <a:blip r:embed="rId12"/>
                  <a:stretch>
                    <a:fillRect b="-125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388FC12-4D62-408E-B47A-9AD5EE46D6C1}"/>
                  </a:ext>
                </a:extLst>
              </p:cNvPr>
              <p:cNvSpPr txBox="1"/>
              <p:nvPr/>
            </p:nvSpPr>
            <p:spPr>
              <a:xfrm>
                <a:off x="7928178" y="3631061"/>
                <a:ext cx="494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388FC12-4D62-408E-B47A-9AD5EE46D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178" y="3631061"/>
                <a:ext cx="49431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Arrow: Bent 93">
            <a:extLst>
              <a:ext uri="{FF2B5EF4-FFF2-40B4-BE49-F238E27FC236}">
                <a16:creationId xmlns:a16="http://schemas.microsoft.com/office/drawing/2014/main" id="{355AA4DE-1657-451D-BA8B-F2A9CE8C22C7}"/>
              </a:ext>
            </a:extLst>
          </p:cNvPr>
          <p:cNvSpPr/>
          <p:nvPr/>
        </p:nvSpPr>
        <p:spPr>
          <a:xfrm rot="16200000">
            <a:off x="7293528" y="3139606"/>
            <a:ext cx="1112062" cy="2218242"/>
          </a:xfrm>
          <a:prstGeom prst="bentArrow">
            <a:avLst>
              <a:gd name="adj1" fmla="val 4302"/>
              <a:gd name="adj2" fmla="val 11163"/>
              <a:gd name="adj3" fmla="val 10741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Arrow: Bent 95">
            <a:extLst>
              <a:ext uri="{FF2B5EF4-FFF2-40B4-BE49-F238E27FC236}">
                <a16:creationId xmlns:a16="http://schemas.microsoft.com/office/drawing/2014/main" id="{BCEA4F49-6209-462F-80F2-90118246B99F}"/>
              </a:ext>
            </a:extLst>
          </p:cNvPr>
          <p:cNvSpPr/>
          <p:nvPr/>
        </p:nvSpPr>
        <p:spPr>
          <a:xfrm rot="16200000">
            <a:off x="5994491" y="2963224"/>
            <a:ext cx="1112062" cy="2581090"/>
          </a:xfrm>
          <a:prstGeom prst="bentArrow">
            <a:avLst>
              <a:gd name="adj1" fmla="val 4302"/>
              <a:gd name="adj2" fmla="val 11163"/>
              <a:gd name="adj3" fmla="val 10741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7" name="Arrow: Bent 96">
            <a:extLst>
              <a:ext uri="{FF2B5EF4-FFF2-40B4-BE49-F238E27FC236}">
                <a16:creationId xmlns:a16="http://schemas.microsoft.com/office/drawing/2014/main" id="{5A036145-3AEF-4A7C-8981-29887011CF92}"/>
              </a:ext>
            </a:extLst>
          </p:cNvPr>
          <p:cNvSpPr/>
          <p:nvPr/>
        </p:nvSpPr>
        <p:spPr>
          <a:xfrm rot="16200000">
            <a:off x="4226429" y="2879924"/>
            <a:ext cx="1112062" cy="2754259"/>
          </a:xfrm>
          <a:prstGeom prst="bentArrow">
            <a:avLst>
              <a:gd name="adj1" fmla="val 4302"/>
              <a:gd name="adj2" fmla="val 11163"/>
              <a:gd name="adj3" fmla="val 10741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2F5809F-9D0D-44C7-B814-BA7BBD97F23E}"/>
              </a:ext>
            </a:extLst>
          </p:cNvPr>
          <p:cNvGrpSpPr/>
          <p:nvPr/>
        </p:nvGrpSpPr>
        <p:grpSpPr>
          <a:xfrm>
            <a:off x="3106616" y="2903954"/>
            <a:ext cx="928835" cy="659933"/>
            <a:chOff x="4779778" y="1870366"/>
            <a:chExt cx="2754260" cy="1981933"/>
          </a:xfrm>
        </p:grpSpPr>
        <p:sp>
          <p:nvSpPr>
            <p:cNvPr id="99" name="Rounded Rectangle 4">
              <a:extLst>
                <a:ext uri="{FF2B5EF4-FFF2-40B4-BE49-F238E27FC236}">
                  <a16:creationId xmlns:a16="http://schemas.microsoft.com/office/drawing/2014/main" id="{A8EC27B8-9884-44A4-A079-09EEFFBA6437}"/>
                </a:ext>
              </a:extLst>
            </p:cNvPr>
            <p:cNvSpPr/>
            <p:nvPr/>
          </p:nvSpPr>
          <p:spPr>
            <a:xfrm>
              <a:off x="4779778" y="1870366"/>
              <a:ext cx="2754260" cy="198193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rapezoid 99">
              <a:extLst>
                <a:ext uri="{FF2B5EF4-FFF2-40B4-BE49-F238E27FC236}">
                  <a16:creationId xmlns:a16="http://schemas.microsoft.com/office/drawing/2014/main" id="{35161998-9529-49F9-8D90-CDD0547BAAC7}"/>
                </a:ext>
              </a:extLst>
            </p:cNvPr>
            <p:cNvSpPr/>
            <p:nvPr/>
          </p:nvSpPr>
          <p:spPr>
            <a:xfrm rot="5400000">
              <a:off x="4911576" y="2461844"/>
              <a:ext cx="950216" cy="798975"/>
            </a:xfrm>
            <a:prstGeom prst="trapezoid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rapezoid 100">
              <a:extLst>
                <a:ext uri="{FF2B5EF4-FFF2-40B4-BE49-F238E27FC236}">
                  <a16:creationId xmlns:a16="http://schemas.microsoft.com/office/drawing/2014/main" id="{F9F2F66D-8654-4E6B-9408-D9250EDE2DAA}"/>
                </a:ext>
              </a:extLst>
            </p:cNvPr>
            <p:cNvSpPr/>
            <p:nvPr/>
          </p:nvSpPr>
          <p:spPr>
            <a:xfrm rot="16200000">
              <a:off x="6423596" y="2461844"/>
              <a:ext cx="950216" cy="798975"/>
            </a:xfrm>
            <a:prstGeom prst="trapezoid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ounded Rectangle 4">
              <a:extLst>
                <a:ext uri="{FF2B5EF4-FFF2-40B4-BE49-F238E27FC236}">
                  <a16:creationId xmlns:a16="http://schemas.microsoft.com/office/drawing/2014/main" id="{3E0B03BA-FAD1-455E-9E4F-0427478615D5}"/>
                </a:ext>
              </a:extLst>
            </p:cNvPr>
            <p:cNvSpPr/>
            <p:nvPr/>
          </p:nvSpPr>
          <p:spPr>
            <a:xfrm>
              <a:off x="5112394" y="2621263"/>
              <a:ext cx="487444" cy="471590"/>
            </a:xfrm>
            <a:prstGeom prst="roundRect">
              <a:avLst/>
            </a:prstGeom>
            <a:solidFill>
              <a:srgbClr val="FFC000"/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500" dirty="0"/>
            </a:p>
          </p:txBody>
        </p:sp>
        <p:sp>
          <p:nvSpPr>
            <p:cNvPr id="103" name="Rounded Rectangle 4">
              <a:extLst>
                <a:ext uri="{FF2B5EF4-FFF2-40B4-BE49-F238E27FC236}">
                  <a16:creationId xmlns:a16="http://schemas.microsoft.com/office/drawing/2014/main" id="{A30A6CDE-7918-4FFC-AF02-5C7FA05263C6}"/>
                </a:ext>
              </a:extLst>
            </p:cNvPr>
            <p:cNvSpPr/>
            <p:nvPr/>
          </p:nvSpPr>
          <p:spPr>
            <a:xfrm>
              <a:off x="6654982" y="2618581"/>
              <a:ext cx="487444" cy="471590"/>
            </a:xfrm>
            <a:prstGeom prst="roundRect">
              <a:avLst/>
            </a:prstGeom>
            <a:solidFill>
              <a:srgbClr val="FFC000"/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500" dirty="0"/>
            </a:p>
          </p:txBody>
        </p: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1875532-4BFA-43E3-B67F-716C7277FBD8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317217" y="3222259"/>
            <a:ext cx="763074" cy="86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1C13942-CA3F-47E7-89C2-CA22330A6621}"/>
              </a:ext>
            </a:extLst>
          </p:cNvPr>
          <p:cNvCxnSpPr>
            <a:cxnSpLocks/>
            <a:stCxn id="17" idx="3"/>
            <a:endCxn id="2" idx="2"/>
          </p:cNvCxnSpPr>
          <p:nvPr/>
        </p:nvCxnSpPr>
        <p:spPr>
          <a:xfrm flipV="1">
            <a:off x="4284420" y="3217588"/>
            <a:ext cx="685611" cy="196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2CF4A6C-0007-4A70-A4C0-A09C38C23892}"/>
              </a:ext>
            </a:extLst>
          </p:cNvPr>
          <p:cNvCxnSpPr>
            <a:cxnSpLocks/>
            <a:stCxn id="2" idx="0"/>
            <a:endCxn id="26" idx="0"/>
          </p:cNvCxnSpPr>
          <p:nvPr/>
        </p:nvCxnSpPr>
        <p:spPr>
          <a:xfrm>
            <a:off x="5947953" y="3217588"/>
            <a:ext cx="3551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76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47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Voges</dc:creator>
  <cp:lastModifiedBy>Yeremia Gunawan</cp:lastModifiedBy>
  <cp:revision>12</cp:revision>
  <dcterms:created xsi:type="dcterms:W3CDTF">2025-03-24T14:18:20Z</dcterms:created>
  <dcterms:modified xsi:type="dcterms:W3CDTF">2025-04-11T09:26:17Z</dcterms:modified>
</cp:coreProperties>
</file>